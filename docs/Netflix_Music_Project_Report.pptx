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whys: each answer becomes the next question until we reach something only Netflix can do. The root answer (owned shows, soundtracks and viewing data) is what the MVP is built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case framed around the art of why: the product must earn its place for users and for Netflix.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statement: who, what, evidence from the dataset, why it matters, and the How Might We question that frames the whole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segments: Binge-Watchers (4), Casual Listeners (3), Regional Listeners (3). Binge-Watchers have no low tech-comfort users, so they are the natural early adopters.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Users are 22 to 45, average 31.4. Regional Listeners are the youngest (27.3).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and personalization is the most shared pain (4 of 10), followed by content and language gaps (3 of 10). This is why AI discovery leads the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Exclusive content and a better listening experience tie as reasons to pay, so premium bundles both: exclusives plus ad-free, offline and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built from Jake Thompson, Sophia Lee, Noah Brown, Mia Johnson.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built from Raj Patel, Emma Wilson, Carlos Gomez.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built from Olivia Chen, Liam Davis, Ava Martinez.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Jobs to be done: the job each segment hires Netflix Music for. Product sense means designing for the job, not the feature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Journey map for the Binge-Watcher. Behaviour row from Sheet 2; the other rows are inferred from Sheets 1 and 2. Rebuild in Figma as one frame per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Journey map for the Casual Listener. Behaviour row from Sheet 2; the other rows are inferred from Sheets 1 and 2. Rebuild in Figma as one frame per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Journey map for the Regional Listener. Behaviour row from Sheet 2; the other rows are inferred from Sheets 1 and 2. Rebuild in Figma as one frame per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Cross-journey insights that shape the MVP and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ideas, 15 pass the user-need screen, 12 after merging overlaps, 5 selected for the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idea traced to a need in the dataset and its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Netflix Music would lead on exclusive content but trail on catalogue size; ratings are analyst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strategy: use owned franchises and viewing data to attack discovery and exclusive-content gaps. Main risk is licensing, so lean on audio Netflix already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Netflix Music is a Question Mark. Video streaming is the Cash Cow that funds it; exclusive audio is the potential 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RICE = Reach x Impact x Confidence / Effort. Top two score about double the third.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WSJF = (Business Value + Time Criticality + Risk Reduction) / Effort. Top two tie at 4.8.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top two sit in the quick-win zone: highest value, lowest effort (5).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Kano: watch-history discovery is the delighter; AI and mood playlists are performance features; offline, sync and basic sharing are must-be.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 frameworks agree on the order, so the decision is robust.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MVP feature maps to a defined problem, a hypothesis to test, and the metric that proves or disproves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discipline: build the advantage first, defer everything else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phases from January 2027 to December 2028; each must pass its gate before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Year-one targets are planning assumptions to validate in the closed beta.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E50914"/>
                </a:solidFill>
                <a:latin typeface="Inter"/>
              </a:rPr>
              <a:t>PRODUCT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430"/>
              </a:spcAft>
            </a:pPr>
            <a:r>
              <a:rPr sz="5400" b="1">
                <a:solidFill>
                  <a:srgbClr val="FFFFFF"/>
                </a:solidFill>
                <a:latin typeface="Inter"/>
              </a:rPr>
              <a:t>Launching Netflix Music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90"/>
              </a:spcAft>
            </a:pPr>
            <a:r>
              <a:rPr sz="2200" b="0">
                <a:solidFill>
                  <a:srgbClr val="C8C8C8"/>
                </a:solidFill>
                <a:latin typeface="Inter"/>
              </a:rPr>
              <a:t>Product sense, problem definition and MVP for a personalized audio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29000"/>
            <a:ext cx="10698480" cy="18288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>
                <a:solidFill>
                  <a:srgbClr val="E50914"/>
                </a:solidFill>
                <a:latin typeface="Inter"/>
              </a:rPr>
              <a:t>SUBMITTED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657600"/>
            <a:ext cx="8412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Sharmistha Chakrabortty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70248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>
                <a:solidFill>
                  <a:srgbClr val="E50914"/>
                </a:solidFill>
                <a:latin typeface="Inter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224528"/>
            <a:ext cx="8412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0">
                <a:solidFill>
                  <a:srgbClr val="E0E0E0"/>
                </a:solidFill>
                <a:latin typeface="Inter"/>
              </a:rPr>
              <a:t>Aspiring Product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37176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>
                <a:solidFill>
                  <a:srgbClr val="E50914"/>
                </a:solidFill>
                <a:latin typeface="Inter"/>
              </a:rPr>
              <a:t>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791456"/>
            <a:ext cx="8412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0">
                <a:solidFill>
                  <a:srgbClr val="E0E0E0"/>
                </a:solidFill>
                <a:latin typeface="Inter"/>
              </a:rPr>
              <a:t>UC San Diego Extended Studies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04104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>
                <a:solidFill>
                  <a:srgbClr val="E50914"/>
                </a:solidFill>
                <a:latin typeface="Inter"/>
              </a:rPr>
              <a:t>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5358384"/>
            <a:ext cx="8412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0">
                <a:solidFill>
                  <a:srgbClr val="E0E0E0"/>
                </a:solidFill>
                <a:latin typeface="Inter"/>
              </a:rPr>
              <a:t>AI-Powered Product Management Professional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71031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>
                <a:solidFill>
                  <a:srgbClr val="E50914"/>
                </a:solidFill>
                <a:latin typeface="Inter"/>
              </a:rPr>
              <a:t>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925312"/>
            <a:ext cx="8412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65"/>
              </a:spcAft>
            </a:pPr>
            <a:r>
              <a:rPr sz="1700" b="0">
                <a:solidFill>
                  <a:srgbClr val="E0E0E0"/>
                </a:solidFill>
                <a:latin typeface="Inter"/>
              </a:rPr>
              <a:t>October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A1A1A"/>
                </a:solidFill>
                <a:latin typeface="Inter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5F5F5F"/>
                </a:solidFill>
                <a:latin typeface="Inter"/>
              </a:rPr>
              <a:t>The story runs from why, to who, to what we build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>
                <a:solidFill>
                  <a:srgbClr val="1A1A1A"/>
                </a:solidFill>
                <a:latin typeface="Inter"/>
              </a:rPr>
              <a:t>•  Part 1  The art of why: why Netflix, why now, the business case</a:t>
            </a:r>
          </a:p>
          <a:p>
            <a:pPr algn="l">
              <a:spcAft>
                <a:spcPts val="810"/>
              </a:spcAft>
            </a:pPr>
            <a:r>
              <a:rPr sz="1800" b="0">
                <a:solidFill>
                  <a:srgbClr val="1A1A1A"/>
                </a:solidFill>
                <a:latin typeface="Inter"/>
              </a:rPr>
              <a:t>•  Part 2  Defining the problem: customer research, personas, jobs to be done</a:t>
            </a:r>
          </a:p>
          <a:p>
            <a:pPr algn="l">
              <a:spcAft>
                <a:spcPts val="810"/>
              </a:spcAft>
            </a:pPr>
            <a:r>
              <a:rPr sz="1800" b="0">
                <a:solidFill>
                  <a:srgbClr val="1A1A1A"/>
                </a:solidFill>
                <a:latin typeface="Inter"/>
              </a:rPr>
              <a:t>•  Part 3  Where the experience breaks: user journey maps</a:t>
            </a:r>
          </a:p>
          <a:p>
            <a:pPr algn="l">
              <a:spcAft>
                <a:spcPts val="810"/>
              </a:spcAft>
            </a:pPr>
            <a:r>
              <a:rPr sz="1800" b="0">
                <a:solidFill>
                  <a:srgbClr val="1A1A1A"/>
                </a:solidFill>
                <a:latin typeface="Inter"/>
              </a:rPr>
              <a:t>•  Part 4  From ideas to features: Idea Funnel</a:t>
            </a:r>
          </a:p>
          <a:p>
            <a:pPr algn="l">
              <a:spcAft>
                <a:spcPts val="810"/>
              </a:spcAft>
            </a:pPr>
            <a:r>
              <a:rPr sz="1800" b="0">
                <a:solidFill>
                  <a:srgbClr val="1A1A1A"/>
                </a:solidFill>
                <a:latin typeface="Inter"/>
              </a:rPr>
              <a:t>•  Part 5  Where Netflix can win: competition, SWOT, BCG</a:t>
            </a:r>
          </a:p>
          <a:p>
            <a:pPr algn="l">
              <a:spcAft>
                <a:spcPts val="810"/>
              </a:spcAft>
            </a:pPr>
            <a:r>
              <a:rPr sz="1800" b="0">
                <a:solidFill>
                  <a:srgbClr val="1A1A1A"/>
                </a:solidFill>
                <a:latin typeface="Inter"/>
              </a:rPr>
              <a:t>•  Part 6  What to build first: RICE, WSJF, Kano, MoSCoW</a:t>
            </a:r>
          </a:p>
          <a:p>
            <a:pPr algn="l">
              <a:spcAft>
                <a:spcPts val="810"/>
              </a:spcAft>
            </a:pPr>
            <a:r>
              <a:rPr sz="1800" b="0">
                <a:solidFill>
                  <a:srgbClr val="1A1A1A"/>
                </a:solidFill>
                <a:latin typeface="Inter"/>
              </a:rPr>
              <a:t>•  Part 7  Delivering the MVP: definition, scope, user stories, PRD</a:t>
            </a:r>
          </a:p>
          <a:p>
            <a:pPr algn="l">
              <a:spcAft>
                <a:spcPts val="810"/>
              </a:spcAft>
            </a:pPr>
            <a:r>
              <a:rPr sz="1800" b="0">
                <a:solidFill>
                  <a:srgbClr val="1A1A1A"/>
                </a:solidFill>
                <a:latin typeface="Inter"/>
              </a:rPr>
              <a:t>•  Part 8  Roadmap, success metrics and risks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A1A1A"/>
                </a:solidFill>
                <a:latin typeface="Inter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5F5F5F"/>
                </a:solidFill>
                <a:latin typeface="Inter"/>
              </a:rPr>
              <a:t>Netflix Music turns what you watch into what you listen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440680" cy="21488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E50914"/>
                </a:solidFill>
                <a:latin typeface="Inter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1A1A1A"/>
                </a:solidFill>
                <a:latin typeface="Inter"/>
              </a:rPr>
              <a:t>Listeners can't easily find audio that fits them. 4 of 10 users report a discovery pain and 3 of 10 report missing exclusive or regional content. No app links watching and listening.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737360"/>
            <a:ext cx="5440680" cy="21488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E50914"/>
                </a:solidFill>
                <a:latin typeface="Inter"/>
              </a:rPr>
              <a:t>THE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1A1A1A"/>
                </a:solidFill>
                <a:latin typeface="Inter"/>
              </a:rPr>
              <a:t>Netflix owns the shows, the soundtracks and the viewing data. That is an advantage Spotify, Apple Music and Amazon Music cannot copy.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79"/>
            <a:ext cx="5440680" cy="21488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59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E50914"/>
                </a:solidFill>
                <a:latin typeface="Inter"/>
              </a:rPr>
              <a:t>THE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1A1A1A"/>
                </a:solidFill>
                <a:latin typeface="Inter"/>
              </a:rPr>
              <a:t>Watch-history discovery and AI playlists (top 2 on RICE and WSJF), soundtrack hubs with exclusive audio, offline listening and an ad-free premium tier. Launch target: Binge-Watchers.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069079"/>
            <a:ext cx="5440680" cy="21488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51959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E50914"/>
                </a:solidFill>
                <a:latin typeface="Inter"/>
              </a:rPr>
              <a:t>THE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6344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1A1A1A"/>
                </a:solidFill>
                <a:latin typeface="Inter"/>
              </a:rPr>
              <a:t>MVP by mid-2027, then User Growth, Competitive Differentiation and Monetization through 2028, each phase gated by a measurable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31720"/>
            <a:ext cx="109728" cy="18288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E50914"/>
                </a:solidFill>
                <a:latin typeface="Inter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The art of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>
                <a:solidFill>
                  <a:srgbClr val="C8C8C8"/>
                </a:solidFill>
                <a:latin typeface="Inter"/>
              </a:rPr>
              <a:t>Before deciding what to build, be sure why it should exist and why Netflix should build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five_wh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A1A1A"/>
                </a:solidFill>
                <a:latin typeface="Inter"/>
              </a:rPr>
              <a:t>Business case: why Netflix should build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5F5F5F"/>
                </a:solidFill>
                <a:latin typeface="Inter"/>
              </a:rPr>
              <a:t>Turn unmonetized listening hours into revenue and loyalty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E50914"/>
                </a:solidFill>
                <a:latin typeface="Inter"/>
              </a:rPr>
              <a:t>WHY BUILD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1A1A1A"/>
                </a:solidFill>
                <a:latin typeface="Inter"/>
              </a:rPr>
              <a:t>•  Capture the non-screen hours: commuting, work, exercise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1A1A1A"/>
                </a:solidFill>
                <a:latin typeface="Inter"/>
              </a:rPr>
              <a:t>•  Defend the core subscription: a second daily habit lowers churn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1A1A1A"/>
                </a:solidFill>
                <a:latin typeface="Inter"/>
              </a:rPr>
              <a:t>•  Monetize owned IP twice: soundtracks, scores, cast podcasts, commentaries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1A1A1A"/>
                </a:solidFill>
                <a:latin typeface="Inter"/>
              </a:rPr>
              <a:t>•  Feed the recommendation engine in both directions: video and audio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E50914"/>
                </a:solidFill>
                <a:latin typeface="Inter"/>
              </a:rP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1A1A1A"/>
                </a:solidFill>
                <a:latin typeface="Inter"/>
              </a:rPr>
              <a:t>Users: music matched to their shows; easier discovery; exclusives; regional content; offline, ad-free listening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1A1A1A"/>
                </a:solidFill>
                <a:latin typeface="Inter"/>
              </a:rPr>
              <a:t>Netflix: new premium and bundle revenue; lower churn; longer engagement; stronger regional growth; richer data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1A1A1A"/>
                </a:solidFill>
                <a:latin typeface="Inter"/>
              </a:rPr>
              <a:t>Revenue model: free tier with ads, premium add-on, Netflix + Music bundles, later hi-fi and partnerships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oblem_defi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A1A1A"/>
                </a:solidFill>
                <a:latin typeface="Inter"/>
              </a:rPr>
              <a:t>Project scope: six steps, each answering a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5F5F5F"/>
                </a:solidFill>
                <a:latin typeface="Inter"/>
              </a:rPr>
              <a:t>What the problem statement asks for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1463040"/>
                <a:gridCol w="3657600"/>
              </a:tblGrid>
              <a:tr h="54080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nter"/>
                        </a:rPr>
                        <a:t>Step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nter"/>
                        </a:rPr>
                        <a:t>What we do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nter"/>
                        </a:rPr>
                        <a:t>Data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nter"/>
                        </a:rPr>
                        <a:t>Question it answers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</a:tr>
              <a:tr h="5408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1. Personas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Segment users, build personas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Survey data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Who are we building for?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5408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2. Journey maps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Map discovery to daily use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Journey data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Where does the experience break?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08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3. Idea Funnel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Generate, screen and refine ideas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Survey and journey data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What could solve it?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5408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4. SWOT and BCG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Benchmark Spotify, Apple, Amazon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Market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Where can Netflix win?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4080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5. Prioritization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RICE, WSJF, Kano, MoSCoW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Feature scores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What do we build first?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5408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6. Roadmap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MVP, Growth, Differentiation, Monetization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All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When and how do we deliver?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31720"/>
            <a:ext cx="109728" cy="18288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E50914"/>
                </a:solidFill>
                <a:latin typeface="Inter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Defining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>
                <a:solidFill>
                  <a:srgbClr val="C8C8C8"/>
                </a:solidFill>
                <a:latin typeface="Inter"/>
              </a:rPr>
              <a:t>Who the users are, what hurts, and what they would pay for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segmen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pain_point_t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urchase_moti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persona_binge-wat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persona_ca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persona_reg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jobs_to_be_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31720"/>
            <a:ext cx="109728" cy="18288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E50914"/>
                </a:solidFill>
                <a:latin typeface="Inter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Where the experience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>
                <a:solidFill>
                  <a:srgbClr val="C8C8C8"/>
                </a:solidFill>
                <a:latin typeface="Inter"/>
              </a:rPr>
              <a:t>End-to-end journey for each persona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journey_binge-wat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journey_ca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journey_reg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journey_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31720"/>
            <a:ext cx="109728" cy="18288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E50914"/>
                </a:solidFill>
                <a:latin typeface="Inter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From ideas to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>
                <a:solidFill>
                  <a:srgbClr val="C8C8C8"/>
                </a:solidFill>
                <a:latin typeface="Inter"/>
              </a:rPr>
              <a:t>Idea Funnel: generate widely, then filter hard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idea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idea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31720"/>
            <a:ext cx="109728" cy="18288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E50914"/>
                </a:solidFill>
                <a:latin typeface="Inter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Where Netflix can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>
                <a:solidFill>
                  <a:srgbClr val="C8C8C8"/>
                </a:solidFill>
                <a:latin typeface="Inter"/>
              </a:rPr>
              <a:t>Industry trends, competitor benchmark, SWOT and BCG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A1A1A"/>
                </a:solidFill>
                <a:latin typeface="Inter"/>
              </a:rPr>
              <a:t>Industry trends shaping the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5F5F5F"/>
                </a:solidFill>
                <a:latin typeface="Inter"/>
              </a:rPr>
              <a:t>Qualitative market view as of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>
                <a:solidFill>
                  <a:srgbClr val="1A1A1A"/>
                </a:solidFill>
                <a:latin typeface="Inter"/>
              </a:rPr>
              <a:t>•  Audio is converging: music, podcasts and audiobooks in one app</a:t>
            </a:r>
          </a:p>
          <a:p>
            <a:pPr algn="l">
              <a:spcAft>
                <a:spcPts val="810"/>
              </a:spcAft>
            </a:pPr>
            <a:r>
              <a:rPr sz="1800" b="0">
                <a:solidFill>
                  <a:srgbClr val="1A1A1A"/>
                </a:solidFill>
                <a:latin typeface="Inter"/>
              </a:rPr>
              <a:t>•  AI personalization is now expected, not novel</a:t>
            </a:r>
          </a:p>
          <a:p>
            <a:pPr algn="l">
              <a:spcAft>
                <a:spcPts val="810"/>
              </a:spcAft>
            </a:pPr>
            <a:r>
              <a:rPr sz="1800" b="0">
                <a:solidFill>
                  <a:srgbClr val="1A1A1A"/>
                </a:solidFill>
                <a:latin typeface="Inter"/>
              </a:rPr>
              <a:t>•  Video and audio are blending: video podcasts and clips favour a video company</a:t>
            </a:r>
          </a:p>
          <a:p>
            <a:pPr algn="l">
              <a:spcAft>
                <a:spcPts val="810"/>
              </a:spcAft>
            </a:pPr>
            <a:r>
              <a:rPr sz="1800" b="0">
                <a:solidFill>
                  <a:srgbClr val="1A1A1A"/>
                </a:solidFill>
                <a:latin typeface="Inter"/>
              </a:rPr>
              <a:t>•  Bundling drives retention: Apple One and Amazon Prime show the model</a:t>
            </a:r>
          </a:p>
          <a:p>
            <a:pPr algn="l">
              <a:spcAft>
                <a:spcPts val="810"/>
              </a:spcAft>
            </a:pPr>
            <a:r>
              <a:rPr sz="1800" b="0">
                <a:solidFill>
                  <a:srgbClr val="1A1A1A"/>
                </a:solidFill>
                <a:latin typeface="Inter"/>
              </a:rPr>
              <a:t>•  Regional growth: new subscribers increasingly come from non-English markets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competitor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sw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bcg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31720"/>
            <a:ext cx="109728" cy="18288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E50914"/>
                </a:solidFill>
                <a:latin typeface="Inter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What to build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>
                <a:solidFill>
                  <a:srgbClr val="C8C8C8"/>
                </a:solidFill>
                <a:latin typeface="Inter"/>
              </a:rPr>
              <a:t>Four frameworks applied to the five features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_wsj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_value_eff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_k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A1A1A"/>
                </a:solidFill>
                <a:latin typeface="Inter"/>
              </a:rPr>
              <a:t>MoSCoW: the launch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5F5F5F"/>
                </a:solidFill>
                <a:latin typeface="Inter"/>
              </a:rPr>
              <a:t>Combining scores with product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36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4846320"/>
              </a:tblGrid>
              <a:tr h="5364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nter"/>
                        </a:rPr>
                        <a:t>Priority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nter"/>
                        </a:rPr>
                        <a:t>Feature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nter"/>
                        </a:rPr>
                        <a:t>Why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Must have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AI-Generated Personalized Playlists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Top RICE, tied top WSJF; solves the most common pain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Must have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Music Discovery Based on Netflix Watch History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Core differentiator; tied top WSJF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Should have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Mood-Based Music Recommendations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Third on both; key for Casual Listeners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Could have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Social Sharing and Collaborative Playlists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Mid scores; share link is cheap, collaboration can wait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Won't have (now)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Podcast + Music Hybrid Experience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Inter"/>
                        </a:rPr>
                        <a:t>Lowest scores, highest effort; revisit later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_combined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31720"/>
            <a:ext cx="109728" cy="18288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E50914"/>
                </a:solidFill>
                <a:latin typeface="Inter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Delivering the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>
                <a:solidFill>
                  <a:srgbClr val="C8C8C8"/>
                </a:solidFill>
                <a:latin typeface="Inter"/>
              </a:rPr>
              <a:t>The smallest product that proves Netflix can win in audio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_mvp_defi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_mvp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A1A1A"/>
                </a:solidFill>
                <a:latin typeface="Inter"/>
              </a:rPr>
              <a:t>User stories for the MVP and first growth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5F5F5F"/>
                </a:solidFill>
                <a:latin typeface="Inter"/>
              </a:rPr>
              <a:t>As a [persona], I want [goal], so that [benefit]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41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097279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828800"/>
                <a:gridCol w="3749039"/>
                <a:gridCol w="3566160"/>
                <a:gridCol w="100584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ID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As a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I want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So that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Priority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US-01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Binge-Watcher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playlists built from the shows I've watched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keep enjoying a show's world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Must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US-02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Binge-Watcher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a 'Listen' button after a show's credits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jump straight to its soundtrack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Must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US-03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Binge-Watcher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behind-the-scenes episodes and commentaries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get content found nowhere else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Must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US-04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Any listener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AI playlists that learn from plays and skips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recommendations improve over time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Must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US-05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Casual Listener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to download playlists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listen without data or signal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Must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US-06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Premium member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ad-free listening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nothing breaks my immersion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Must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US-07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New user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to sign in with my Netflix account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start without a new account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Must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US-08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Casual Listener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one-tap mood playlists (Focus, Chill)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get the right music without searching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Should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US-09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Regional Listener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phone and TV to stay in sync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pick up where I left off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Should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US-10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Casual Listener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to share a playlist link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friends hear what I like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Could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US-11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Regional Listener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a home screen in my language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skip past global hits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Should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US-12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Regional Listener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voice search in my language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find podcasts quickly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Inter"/>
                        </a:rPr>
                        <a:t>Could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A1A1A"/>
                </a:solidFill>
                <a:latin typeface="Inter"/>
              </a:rPr>
              <a:t>PRD summary: Netflix Music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5F5F5F"/>
                </a:solidFill>
                <a:latin typeface="Inter"/>
              </a:rPr>
              <a:t>Mobile-first, Netflix sign-in, free with ads plus ad-free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869680"/>
              </a:tblGrid>
              <a:tr h="528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</a:rPr>
                        <a:t>Area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</a:rPr>
                        <a:t>Requirement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Goal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Prove Netflix viewers adopt and keep listening; convert through exclusives and ad-free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Target users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Primary: Binge-Watchers. Secondary: Casual Listeners. Regional from Phase 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P0 features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Netflix sign-in; watch-history recs; 'Listen' after credits; soundtrack hubs; AI daily mix; search; offline downloads; free and premium tiers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P1 features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Share link; mood tiles (beta)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Non-functional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Playback &lt; 2 s on 4G; 99.9% availability; opt-in use of viewing history; accessible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Dependencies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Label licensing; exclusive audio for launch titles; Netflix rec platform and accounts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Release criteria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P0 stories pass; 40% of beta users listen weekly; no open privacy or licensing issue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Non-goals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Full catalogue parity; podcast hybrid feed; collaborative playlists; wide regional rollout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31720"/>
            <a:ext cx="109728" cy="18288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E50914"/>
                </a:solidFill>
                <a:latin typeface="Inter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Roadmap and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>
                <a:solidFill>
                  <a:srgbClr val="C8C8C8"/>
                </a:solidFill>
                <a:latin typeface="Inter"/>
              </a:rPr>
              <a:t>From MVP to monetization, with a gate for every phase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A1A1A"/>
                </a:solidFill>
                <a:latin typeface="Inter"/>
              </a:rPr>
              <a:t>Key risks and how we reduce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46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5364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Risk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Mitigation</a:t>
                      </a:r>
                    </a:p>
                  </a:txBody>
                  <a:tcPr marL="73152" marR="73152">
                    <a:solidFill>
                      <a:srgbClr val="E50914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Inter"/>
                        </a:rPr>
                        <a:t>Label licensing delays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Inter"/>
                        </a:rPr>
                        <a:t>Launch with soundtracks and original audio Netflix controls; phase in catalogue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Inter"/>
                        </a:rPr>
                        <a:t>Rivals copy features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Inter"/>
                        </a:rPr>
                        <a:t>Lean on exclusive IP that cannot be copied; ship fast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Inter"/>
                        </a:rPr>
                        <a:t>Privacy backlash on viewing data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Inter"/>
                        </a:rPr>
                        <a:t>Clear opt-in, easy off switch, transparent explanations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Inter"/>
                        </a:rPr>
                        <a:t>Royalty costs squeeze margins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Inter"/>
                        </a:rPr>
                        <a:t>Bundle pricing; weight listening toward owned audio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Inter"/>
                        </a:rPr>
                        <a:t>Low adoption beyond Binge-Watchers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Inter"/>
                        </a:rPr>
                        <a:t>Mood playlists, offline and regional hubs in later phases</a:t>
                      </a:r>
                    </a:p>
                  </a:txBody>
                  <a:tcPr marL="73152" marR="73152">
                    <a:solidFill>
                      <a:srgbClr val="F5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A1A1A"/>
                </a:solidFill>
                <a:latin typeface="Inter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5F5F5F"/>
                </a:solidFill>
                <a:latin typeface="Inter"/>
              </a:rPr>
              <a:t>Start with why, define the problem, deliver the smallest product that proves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>
                <a:solidFill>
                  <a:srgbClr val="5F5F5F"/>
                </a:solidFill>
                <a:latin typeface="Inter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55"/>
              </a:spcAft>
            </a:pPr>
            <a:r>
              <a:rPr sz="1900" b="0">
                <a:solidFill>
                  <a:srgbClr val="1A1A1A"/>
                </a:solidFill>
                <a:latin typeface="Inter"/>
              </a:rPr>
              <a:t>•  Why: listening hours are unmonetized, and Netflix owns an advantage rivals cannot copy</a:t>
            </a:r>
          </a:p>
          <a:p>
            <a:pPr algn="l">
              <a:spcAft>
                <a:spcPts val="855"/>
              </a:spcAft>
            </a:pPr>
            <a:r>
              <a:rPr sz="1900" b="0">
                <a:solidFill>
                  <a:srgbClr val="1A1A1A"/>
                </a:solidFill>
                <a:latin typeface="Inter"/>
              </a:rPr>
              <a:t>•  Problem: no app connects what people watch with what they hear; discovery and exclusives are the gaps</a:t>
            </a:r>
          </a:p>
          <a:p>
            <a:pPr algn="l">
              <a:spcAft>
                <a:spcPts val="855"/>
              </a:spcAft>
            </a:pPr>
            <a:r>
              <a:rPr sz="1900" b="0">
                <a:solidFill>
                  <a:srgbClr val="1A1A1A"/>
                </a:solidFill>
                <a:latin typeface="Inter"/>
              </a:rPr>
              <a:t>•  Who: Binge-Watchers first, then Casual and Regional Listeners</a:t>
            </a:r>
          </a:p>
          <a:p>
            <a:pPr algn="l">
              <a:spcAft>
                <a:spcPts val="855"/>
              </a:spcAft>
            </a:pPr>
            <a:r>
              <a:rPr sz="1900" b="0">
                <a:solidFill>
                  <a:srgbClr val="1A1A1A"/>
                </a:solidFill>
                <a:latin typeface="Inter"/>
              </a:rPr>
              <a:t>•  MVP: watch-history discovery, AI playlists, soundtrack hubs, offline, ad-free premium</a:t>
            </a:r>
          </a:p>
          <a:p>
            <a:pPr algn="l">
              <a:spcAft>
                <a:spcPts val="855"/>
              </a:spcAft>
            </a:pPr>
            <a:r>
              <a:rPr sz="1900" b="0">
                <a:solidFill>
                  <a:srgbClr val="1A1A1A"/>
                </a:solidFill>
                <a:latin typeface="Inter"/>
              </a:rPr>
              <a:t>•  Proof: 40% weekly active, 30% Netflix-linked listening, 25% conversion</a:t>
            </a:r>
          </a:p>
          <a:p>
            <a:pPr algn="l">
              <a:spcAft>
                <a:spcPts val="855"/>
              </a:spcAft>
            </a:pPr>
            <a:r>
              <a:rPr sz="1900" b="0">
                <a:solidFill>
                  <a:srgbClr val="1A1A1A"/>
                </a:solidFill>
                <a:latin typeface="Inter"/>
              </a:rPr>
              <a:t>•  Next: grow, differentiate regionally, then monetize at scale through 2028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1">
                <a:solidFill>
                  <a:srgbClr val="E50914"/>
                </a:solidFill>
                <a:latin typeface="Inter"/>
              </a:rPr>
              <a:t>“How might we turn what members watch into what they love to listen to?”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